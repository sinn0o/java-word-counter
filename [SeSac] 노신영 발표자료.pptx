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69" r:id="rId4"/>
    <p:sldId id="258" r:id="rId5"/>
    <p:sldId id="268" r:id="rId6"/>
    <p:sldId id="266" r:id="rId7"/>
    <p:sldId id="267" r:id="rId8"/>
    <p:sldId id="26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43721-E07D-4005-9033-4035AE811913}" v="11" dt="2026-10-01T05:23:19.768"/>
    <p1510:client id="{48F7D977-53C1-48C7-8DF3-712C674FE971}" v="5" dt="2026-10-01T07:42:30.2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신영 노" userId="8aa812b93d7ee537" providerId="LiveId" clId="{E249B1BF-21F2-428C-B4A9-6633A6C67FCE}"/>
    <pc:docChg chg="modSld">
      <pc:chgData name="신영 노" userId="8aa812b93d7ee537" providerId="LiveId" clId="{E249B1BF-21F2-428C-B4A9-6633A6C67FCE}" dt="2026-10-01T07:42:30.299" v="56" actId="20577"/>
      <pc:docMkLst>
        <pc:docMk/>
      </pc:docMkLst>
      <pc:sldChg chg="modSp mod">
        <pc:chgData name="신영 노" userId="8aa812b93d7ee537" providerId="LiveId" clId="{E249B1BF-21F2-428C-B4A9-6633A6C67FCE}" dt="2026-10-01T05:23:19.768" v="46"/>
        <pc:sldMkLst>
          <pc:docMk/>
          <pc:sldMk cId="1654519827" sldId="256"/>
        </pc:sldMkLst>
        <pc:graphicFrameChg chg="mod modGraphic">
          <ac:chgData name="신영 노" userId="8aa812b93d7ee537" providerId="LiveId" clId="{E249B1BF-21F2-428C-B4A9-6633A6C67FCE}" dt="2026-10-01T05:23:19.768" v="46"/>
          <ac:graphicFrameMkLst>
            <pc:docMk/>
            <pc:sldMk cId="1654519827" sldId="256"/>
            <ac:graphicFrameMk id="4" creationId="{19A27EBE-248E-787D-02DA-C18F06A90B89}"/>
          </ac:graphicFrameMkLst>
        </pc:graphicFrameChg>
      </pc:sldChg>
      <pc:sldChg chg="addSp modSp mod">
        <pc:chgData name="신영 노" userId="8aa812b93d7ee537" providerId="LiveId" clId="{E249B1BF-21F2-428C-B4A9-6633A6C67FCE}" dt="2026-10-01T04:07:59.150" v="26" actId="1076"/>
        <pc:sldMkLst>
          <pc:docMk/>
          <pc:sldMk cId="3729939353" sldId="266"/>
        </pc:sldMkLst>
        <pc:spChg chg="mod">
          <ac:chgData name="신영 노" userId="8aa812b93d7ee537" providerId="LiveId" clId="{E249B1BF-21F2-428C-B4A9-6633A6C67FCE}" dt="2026-10-01T04:06:37.668" v="16" actId="20577"/>
          <ac:spMkLst>
            <pc:docMk/>
            <pc:sldMk cId="3729939353" sldId="266"/>
            <ac:spMk id="18" creationId="{9306EF69-2F13-C378-F407-BCF4A9C0916C}"/>
          </ac:spMkLst>
        </pc:spChg>
        <pc:spChg chg="mod">
          <ac:chgData name="신영 노" userId="8aa812b93d7ee537" providerId="LiveId" clId="{E249B1BF-21F2-428C-B4A9-6633A6C67FCE}" dt="2026-10-01T04:07:38.463" v="22" actId="164"/>
          <ac:spMkLst>
            <pc:docMk/>
            <pc:sldMk cId="3729939353" sldId="266"/>
            <ac:spMk id="22" creationId="{FB7A3485-6780-F638-51F2-1913158ED478}"/>
          </ac:spMkLst>
        </pc:spChg>
        <pc:spChg chg="mod">
          <ac:chgData name="신영 노" userId="8aa812b93d7ee537" providerId="LiveId" clId="{E249B1BF-21F2-428C-B4A9-6633A6C67FCE}" dt="2026-10-01T04:07:36.801" v="21" actId="164"/>
          <ac:spMkLst>
            <pc:docMk/>
            <pc:sldMk cId="3729939353" sldId="266"/>
            <ac:spMk id="26" creationId="{B43EDEFB-E3F6-A5DA-F3CB-D810224D526F}"/>
          </ac:spMkLst>
        </pc:spChg>
        <pc:grpChg chg="add mod">
          <ac:chgData name="신영 노" userId="8aa812b93d7ee537" providerId="LiveId" clId="{E249B1BF-21F2-428C-B4A9-6633A6C67FCE}" dt="2026-10-01T04:07:48.350" v="24" actId="1076"/>
          <ac:grpSpMkLst>
            <pc:docMk/>
            <pc:sldMk cId="3729939353" sldId="266"/>
            <ac:grpSpMk id="2" creationId="{B5BE79A9-E0DD-579B-9CCB-C92529CE31A5}"/>
          </ac:grpSpMkLst>
        </pc:grpChg>
        <pc:grpChg chg="add mod">
          <ac:chgData name="신영 노" userId="8aa812b93d7ee537" providerId="LiveId" clId="{E249B1BF-21F2-428C-B4A9-6633A6C67FCE}" dt="2026-10-01T04:07:59.150" v="26" actId="1076"/>
          <ac:grpSpMkLst>
            <pc:docMk/>
            <pc:sldMk cId="3729939353" sldId="266"/>
            <ac:grpSpMk id="4" creationId="{122AE792-9386-6420-4C74-5137853A36F0}"/>
          </ac:grpSpMkLst>
        </pc:grpChg>
        <pc:grpChg chg="mod">
          <ac:chgData name="신영 노" userId="8aa812b93d7ee537" providerId="LiveId" clId="{E249B1BF-21F2-428C-B4A9-6633A6C67FCE}" dt="2026-10-01T04:07:38.463" v="22" actId="164"/>
          <ac:grpSpMkLst>
            <pc:docMk/>
            <pc:sldMk cId="3729939353" sldId="266"/>
            <ac:grpSpMk id="19" creationId="{236E1E06-7992-A71B-2DA7-2548C5222709}"/>
          </ac:grpSpMkLst>
        </pc:grpChg>
        <pc:grpChg chg="mod">
          <ac:chgData name="신영 노" userId="8aa812b93d7ee537" providerId="LiveId" clId="{E249B1BF-21F2-428C-B4A9-6633A6C67FCE}" dt="2026-10-01T04:07:36.801" v="21" actId="164"/>
          <ac:grpSpMkLst>
            <pc:docMk/>
            <pc:sldMk cId="3729939353" sldId="266"/>
            <ac:grpSpMk id="23" creationId="{31102C3C-0A04-6ABB-35F5-CF2DE446F56D}"/>
          </ac:grpSpMkLst>
        </pc:grpChg>
      </pc:sldChg>
      <pc:sldChg chg="addSp modSp mod">
        <pc:chgData name="신영 노" userId="8aa812b93d7ee537" providerId="LiveId" clId="{E249B1BF-21F2-428C-B4A9-6633A6C67FCE}" dt="2026-10-01T07:42:30.299" v="56" actId="20577"/>
        <pc:sldMkLst>
          <pc:docMk/>
          <pc:sldMk cId="826509759" sldId="268"/>
        </pc:sldMkLst>
        <pc:spChg chg="add mod">
          <ac:chgData name="신영 노" userId="8aa812b93d7ee537" providerId="LiveId" clId="{E249B1BF-21F2-428C-B4A9-6633A6C67FCE}" dt="2026-10-01T07:42:30.299" v="56" actId="20577"/>
          <ac:spMkLst>
            <pc:docMk/>
            <pc:sldMk cId="826509759" sldId="268"/>
            <ac:spMk id="3" creationId="{D25A6CBB-08CE-6B2E-EA26-623455D884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D8F82-B4D7-C07B-7BE3-C252021B8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199F62-AE97-D47E-6D52-189B35ED0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17EACA-ED20-85DF-A334-21C0E8716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3BAE5-69E3-4A26-BCC8-7EF5B741E78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F2AD3B-EFD6-A6BF-12E8-D8AB58852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FC1B75-3AE9-20C6-F99A-CF8DDC5B8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EAF6B-B1ED-44B6-A839-CA9D2BDC7D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791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CAA88-5BBE-66FB-DE49-11EC4D4F1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ABA5BA-9626-3E36-EA18-D1EB1F6F6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044902-9893-0ADA-61BF-B0D031D0C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3BAE5-69E3-4A26-BCC8-7EF5B741E78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18F35F-BD33-02C0-DF96-C87DDBC06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3A69DA-5DCD-9383-B410-52D35E571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EAF6B-B1ED-44B6-A839-CA9D2BDC7D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714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9A11D-56BD-7667-806D-85CD01701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C1ADFB-BEFB-1FEA-FD75-3B8FA4F80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43E1CE-4777-6A22-D200-D1448370A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3BAE5-69E3-4A26-BCC8-7EF5B741E78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A4660-D7E2-7657-8CC9-AA7F713D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2ED274-EFB5-5C76-37E7-1B34946E1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EAF6B-B1ED-44B6-A839-CA9D2BDC7D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034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623F8D-3237-EEA3-B715-DA892111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0526E9-3F31-7A30-FED8-027933E61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1D074A-69EB-183A-8FC1-6FFC4FC9A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1F4A74-E70B-A360-23BD-A2EF1662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3BAE5-69E3-4A26-BCC8-7EF5B741E78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37C03A-7FDA-AD5C-D448-A50028D3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7DEFB3-0A4B-D1A7-A21C-20D9980E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EAF6B-B1ED-44B6-A839-CA9D2BDC7D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37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CB1B43-D463-A0D2-9267-F20D7F1FA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A651B2-5214-6F1D-8C04-3BAE085E1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571792-32E4-6C88-1E48-970D0A30B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158FFD-3AEF-03A5-A977-2D604F48D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CF93904-4442-7979-2EF2-C23E8127C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D066BB2-101E-8590-6A44-6EA580D6E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3BAE5-69E3-4A26-BCC8-7EF5B741E78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755CF77-D71F-922C-271B-4938AB833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26F2BA-EE70-8A9D-6000-18306ADB0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EAF6B-B1ED-44B6-A839-CA9D2BDC7D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03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98A31-756C-858C-BE2D-6290E827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6CCD69-632B-C3D6-0795-1D5DE7A20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3BAE5-69E3-4A26-BCC8-7EF5B741E78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514294-2670-72A4-4AA8-78D15FB81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B9C5DB-E3C7-1F47-9D65-E0DD60B45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EAF6B-B1ED-44B6-A839-CA9D2BDC7D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577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74E651-D5FA-86D7-D9CD-4C487A933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3BAE5-69E3-4A26-BCC8-7EF5B741E78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127891-FFF5-BE46-CB48-36AD9531C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0FE185-3308-2630-FE03-71D0B555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EAF6B-B1ED-44B6-A839-CA9D2BDC7D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871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D6B9E-409C-077E-564F-E45BFC31D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5D22F4-6B24-779A-C89D-0D033CC0C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D107EC-E001-055B-A713-34602A9C9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4FA867-8BF0-6850-2F5F-922CCDBE6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3BAE5-69E3-4A26-BCC8-7EF5B741E78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28539F-B527-2398-6CE6-601F7B8D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C1E427-19EE-C995-564C-F4CB949EE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EAF6B-B1ED-44B6-A839-CA9D2BDC7D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842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21AA2-80AC-86A1-14DD-ED708C00E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2BBDE6-E8BC-1463-A860-32B9909490A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3DE907-EEAA-50C4-21BA-40188A0A2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9783C9-830E-23B2-6BA0-72EB4F02B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3BAE5-69E3-4A26-BCC8-7EF5B741E78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D4CDB7-C04D-A557-49E1-8D1D1322E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3037F8-46B2-7D0D-227A-E1355FE72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EAF6B-B1ED-44B6-A839-CA9D2BDC7D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12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8C6D8-C2B3-4528-E841-0D766A3B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E6D535-7E96-9D79-950B-E4D59069C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4CB841-44CE-F532-034A-9EA3643CF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3BAE5-69E3-4A26-BCC8-7EF5B741E78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09449C-ADDC-D8C4-9682-438841589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370788-50B7-4421-FB8D-13FACF8F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EAF6B-B1ED-44B6-A839-CA9D2BDC7D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917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243FF02-292C-00C5-5905-5C2E0A3FC8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EDFE42-2726-AC16-14A3-4B1601AA3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E90D39-4700-D451-F2F4-4CB0ECC29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3BAE5-69E3-4A26-BCC8-7EF5B741E78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B44E07-51D3-A877-003A-3DE5F801B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9B3B89-2710-ECDF-C5B4-47EEF2A52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EAF6B-B1ED-44B6-A839-CA9D2BDC7D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981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A66100-20C9-FA80-80EC-7AC2E8E32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916E78-9788-3873-8B4C-7174C0098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D32B63-75CB-4FB3-E047-F4597D885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3BAE5-69E3-4A26-BCC8-7EF5B741E78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A7E3D0-FC14-CE88-C323-09B02C0F3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69DC4E-371B-EE3B-86EB-DBC3336E7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EAF6B-B1ED-44B6-A839-CA9D2BDC7D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05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nn0o/java-word-counter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64E9481-117F-21CE-39D2-B1E98A138203}"/>
              </a:ext>
            </a:extLst>
          </p:cNvPr>
          <p:cNvSpPr/>
          <p:nvPr/>
        </p:nvSpPr>
        <p:spPr>
          <a:xfrm>
            <a:off x="466862" y="2828668"/>
            <a:ext cx="6308011" cy="1176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0" kern="0" spc="-78" dirty="0">
                <a:solidFill>
                  <a:srgbClr val="171B22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Pretendard Medium" panose="02000603000000020004" pitchFamily="50" charset="-127"/>
              </a:rPr>
              <a:t>Word-Counter</a:t>
            </a:r>
            <a:endParaRPr lang="en-US" sz="6000" dirty="0">
              <a:latin typeface="배달의민족 도현" panose="020B0600000101010101" pitchFamily="50" charset="-127"/>
              <a:ea typeface="배달의민족 도현" panose="020B0600000101010101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65E9DDCB-12C4-2BA7-B952-DCAD3B1C9165}"/>
              </a:ext>
            </a:extLst>
          </p:cNvPr>
          <p:cNvSpPr/>
          <p:nvPr/>
        </p:nvSpPr>
        <p:spPr>
          <a:xfrm>
            <a:off x="605407" y="4004688"/>
            <a:ext cx="3634083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474D5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구현한 기능과 문제 해결 과정 발표</a:t>
            </a:r>
            <a:endParaRPr lang="en-US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33903E7-8009-C950-B43F-987C72755034}"/>
              </a:ext>
            </a:extLst>
          </p:cNvPr>
          <p:cNvCxnSpPr>
            <a:cxnSpLocks/>
          </p:cNvCxnSpPr>
          <p:nvPr/>
        </p:nvCxnSpPr>
        <p:spPr>
          <a:xfrm flipV="1">
            <a:off x="466862" y="3812543"/>
            <a:ext cx="8052955" cy="47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6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9A27EBE-248E-787D-02DA-C18F06A90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974875"/>
              </p:ext>
            </p:extLst>
          </p:nvPr>
        </p:nvGraphicFramePr>
        <p:xfrm>
          <a:off x="3048000" y="1727975"/>
          <a:ext cx="6096000" cy="439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5545">
                  <a:extLst>
                    <a:ext uri="{9D8B030D-6E8A-4147-A177-3AD203B41FA5}">
                      <a16:colId xmlns:a16="http://schemas.microsoft.com/office/drawing/2014/main" val="2584546413"/>
                    </a:ext>
                  </a:extLst>
                </a:gridCol>
                <a:gridCol w="2020455">
                  <a:extLst>
                    <a:ext uri="{9D8B030D-6E8A-4147-A177-3AD203B41FA5}">
                      <a16:colId xmlns:a16="http://schemas.microsoft.com/office/drawing/2014/main" val="2290373600"/>
                    </a:ext>
                  </a:extLst>
                </a:gridCol>
              </a:tblGrid>
              <a:tr h="4609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solidFill>
                            <a:schemeClr val="tx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기능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solidFill>
                            <a:schemeClr val="tx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상태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324778"/>
                  </a:ext>
                </a:extLst>
              </a:tr>
              <a:tr h="460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파일 또는 폴더 선택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+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텍스트 추출</a:t>
                      </a:r>
                      <a:endParaRPr lang="ko-KR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341247"/>
                  </a:ext>
                </a:extLst>
              </a:tr>
              <a:tr h="460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단어 처리 규칙</a:t>
                      </a:r>
                      <a:endParaRPr lang="ko-KR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087831"/>
                  </a:ext>
                </a:extLst>
              </a:tr>
              <a:tr h="523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단어별 횟수 집계</a:t>
                      </a:r>
                      <a:endParaRPr lang="ko-KR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28936"/>
                  </a:ext>
                </a:extLst>
              </a:tr>
              <a:tr h="460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상위 </a:t>
                      </a:r>
                      <a:r>
                        <a:rPr lang="ko-KR" sz="1400" dirty="0" err="1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N개</a:t>
                      </a: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단어 조회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257706"/>
                  </a:ext>
                </a:extLst>
              </a:tr>
              <a:tr h="460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특정 단어 조회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776251"/>
                  </a:ext>
                </a:extLst>
              </a:tr>
              <a:tr h="523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전체 결과 저장 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854005"/>
                  </a:ext>
                </a:extLst>
              </a:tr>
              <a:tr h="523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분석 요약과 처리 시간 표시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667269"/>
                  </a:ext>
                </a:extLst>
              </a:tr>
              <a:tr h="523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잘못된 입력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·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실패 파일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·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빈 파일 처리</a:t>
                      </a:r>
                      <a:endParaRPr lang="ko-KR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6183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D86AA44-841E-A709-D61F-DC6B44B4D6E3}"/>
              </a:ext>
            </a:extLst>
          </p:cNvPr>
          <p:cNvSpPr txBox="1"/>
          <p:nvPr/>
        </p:nvSpPr>
        <p:spPr>
          <a:xfrm>
            <a:off x="355600" y="361434"/>
            <a:ext cx="10214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구현한 기능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C3EC4D-374F-5CE4-1ED7-B4D9FC7355DC}"/>
              </a:ext>
            </a:extLst>
          </p:cNvPr>
          <p:cNvSpPr txBox="1"/>
          <p:nvPr/>
        </p:nvSpPr>
        <p:spPr>
          <a:xfrm>
            <a:off x="5030644" y="1105875"/>
            <a:ext cx="2130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&lt;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필수 구현사항 목록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&gt;</a:t>
            </a:r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451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1E2F2-DA2B-C99A-966A-9BD73346A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B02366-B7BF-B2D8-79CB-FCF5AA0DBA65}"/>
              </a:ext>
            </a:extLst>
          </p:cNvPr>
          <p:cNvSpPr txBox="1"/>
          <p:nvPr/>
        </p:nvSpPr>
        <p:spPr>
          <a:xfrm>
            <a:off x="355600" y="361434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전체 처리 흐름</a:t>
            </a:r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B1AEF0D4-3C03-9EEA-5703-ED79AAA219B3}"/>
              </a:ext>
            </a:extLst>
          </p:cNvPr>
          <p:cNvSpPr/>
          <p:nvPr/>
        </p:nvSpPr>
        <p:spPr>
          <a:xfrm>
            <a:off x="1560722" y="5806827"/>
            <a:ext cx="5940000" cy="648000"/>
          </a:xfrm>
          <a:prstGeom prst="roundRect">
            <a:avLst>
              <a:gd name="adj" fmla="val 13780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ko-KR" sz="1400" b="1" dirty="0" err="1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AnalysisSummary</a:t>
            </a:r>
            <a:r>
              <a:rPr lang="en-US" altLang="ko-KR" sz="14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생성 → 요약 출력</a:t>
            </a:r>
          </a:p>
          <a:p>
            <a:pPr algn="ctr"/>
            <a:r>
              <a:rPr lang="ko-KR" altLang="en-US" sz="12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입력 경로</a:t>
            </a:r>
            <a:r>
              <a:rPr lang="en-US" altLang="ko-KR" sz="12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성공</a:t>
            </a:r>
            <a:r>
              <a:rPr lang="en-US" altLang="ko-KR" sz="12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실패</a:t>
            </a:r>
            <a:r>
              <a:rPr lang="en-US" altLang="ko-KR" sz="12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건너뜀 수</a:t>
            </a:r>
            <a:r>
              <a:rPr lang="en-US" altLang="ko-KR" sz="12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전체 단어 수</a:t>
            </a:r>
            <a:r>
              <a:rPr lang="en-US" altLang="ko-KR" sz="12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종류 수</a:t>
            </a:r>
            <a:r>
              <a:rPr lang="en-US" altLang="ko-KR" sz="12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처리 시간</a:t>
            </a:r>
            <a:endParaRPr lang="en-US" altLang="ko-KR" sz="1100" dirty="0">
              <a:solidFill>
                <a:schemeClr val="bg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8A9C85F9-2C3E-2A1B-8E6F-C5835C540202}"/>
              </a:ext>
            </a:extLst>
          </p:cNvPr>
          <p:cNvCxnSpPr>
            <a:cxnSpLocks/>
          </p:cNvCxnSpPr>
          <p:nvPr/>
        </p:nvCxnSpPr>
        <p:spPr>
          <a:xfrm>
            <a:off x="4530722" y="3574439"/>
            <a:ext cx="0" cy="180000"/>
          </a:xfrm>
          <a:prstGeom prst="straightConnector1">
            <a:avLst/>
          </a:prstGeom>
          <a:ln w="13970"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3696C57-81AE-9C7A-A510-2B616953ED52}"/>
              </a:ext>
            </a:extLst>
          </p:cNvPr>
          <p:cNvGrpSpPr/>
          <p:nvPr/>
        </p:nvGrpSpPr>
        <p:grpSpPr>
          <a:xfrm>
            <a:off x="1560082" y="3833717"/>
            <a:ext cx="5940640" cy="1634555"/>
            <a:chOff x="1560082" y="3833717"/>
            <a:chExt cx="5940640" cy="1634555"/>
          </a:xfrm>
        </p:grpSpPr>
        <p:sp>
          <p:nvSpPr>
            <p:cNvPr id="17" name="Shape 25">
              <a:extLst>
                <a:ext uri="{FF2B5EF4-FFF2-40B4-BE49-F238E27FC236}">
                  <a16:creationId xmlns:a16="http://schemas.microsoft.com/office/drawing/2014/main" id="{10FD9EC6-863E-56F6-125C-B03E0E5AC287}"/>
                </a:ext>
              </a:extLst>
            </p:cNvPr>
            <p:cNvSpPr/>
            <p:nvPr/>
          </p:nvSpPr>
          <p:spPr>
            <a:xfrm>
              <a:off x="1560722" y="3833717"/>
              <a:ext cx="5940000" cy="648000"/>
            </a:xfrm>
            <a:prstGeom prst="roundRect">
              <a:avLst>
                <a:gd name="adj" fmla="val 13780"/>
              </a:avLst>
            </a:prstGeom>
            <a:solidFill>
              <a:schemeClr val="bg2">
                <a:lumMod val="75000"/>
              </a:schemeClr>
            </a:solidFill>
            <a:ln/>
          </p:spPr>
          <p:txBody>
            <a:bodyPr anchor="ctr"/>
            <a:lstStyle/>
            <a:p>
              <a:pPr algn="ctr"/>
              <a:r>
                <a:rPr lang="en-US" altLang="ko-KR" sz="1400" b="1" dirty="0" err="1">
                  <a:solidFill>
                    <a:schemeClr val="bg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Main.tokenize</a:t>
              </a:r>
              <a:r>
                <a:rPr lang="en-US" altLang="ko-KR" sz="1400" b="1" dirty="0">
                  <a:solidFill>
                    <a:schemeClr val="bg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() + HashMap </a:t>
              </a:r>
              <a:r>
                <a:rPr lang="ko-KR" altLang="en-US" sz="1400" b="1" dirty="0">
                  <a:solidFill>
                    <a:schemeClr val="bg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집계</a:t>
              </a:r>
            </a:p>
            <a:p>
              <a:pPr algn="ctr"/>
              <a:r>
                <a:rPr lang="ko-KR" altLang="en-US" sz="1200" dirty="0">
                  <a:solidFill>
                    <a:schemeClr val="bg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텍스트를 단어로 쪼개고</a:t>
              </a:r>
              <a:r>
                <a:rPr lang="en-US" altLang="ko-KR" sz="1200" dirty="0">
                  <a:solidFill>
                    <a:schemeClr val="bg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, </a:t>
              </a:r>
              <a:r>
                <a:rPr lang="ko-KR" altLang="en-US" sz="1200" dirty="0">
                  <a:solidFill>
                    <a:schemeClr val="bg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파일 단위로 센 뒤 전체 집계에 </a:t>
              </a:r>
              <a:r>
                <a:rPr lang="en-US" altLang="ko-KR" sz="1200" dirty="0">
                  <a:solidFill>
                    <a:schemeClr val="bg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merge</a:t>
              </a:r>
              <a:endParaRPr lang="en-US" altLang="ko-KR" sz="11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19" name="Shape 25">
              <a:extLst>
                <a:ext uri="{FF2B5EF4-FFF2-40B4-BE49-F238E27FC236}">
                  <a16:creationId xmlns:a16="http://schemas.microsoft.com/office/drawing/2014/main" id="{E07C96DA-10DC-18B2-7BBF-3A927268DCD1}"/>
                </a:ext>
              </a:extLst>
            </p:cNvPr>
            <p:cNvSpPr/>
            <p:nvPr/>
          </p:nvSpPr>
          <p:spPr>
            <a:xfrm>
              <a:off x="1560082" y="4820272"/>
              <a:ext cx="2844000" cy="648000"/>
            </a:xfrm>
            <a:prstGeom prst="roundRect">
              <a:avLst>
                <a:gd name="adj" fmla="val 13780"/>
              </a:avLst>
            </a:prstGeom>
            <a:solidFill>
              <a:schemeClr val="bg1">
                <a:lumMod val="50000"/>
              </a:schemeClr>
            </a:solidFill>
            <a:ln/>
          </p:spPr>
          <p:txBody>
            <a:bodyPr anchor="ctr"/>
            <a:lstStyle/>
            <a:p>
              <a:pPr algn="ctr"/>
              <a:r>
                <a:rPr lang="ko-KR" altLang="en-US" sz="1400" b="1" dirty="0">
                  <a:solidFill>
                    <a:schemeClr val="bg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성공한 파일 </a:t>
              </a:r>
              <a:r>
                <a:rPr lang="en-US" altLang="ko-KR" sz="1400" b="1" dirty="0">
                  <a:solidFill>
                    <a:schemeClr val="bg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0</a:t>
              </a:r>
              <a:r>
                <a:rPr lang="ko-KR" altLang="en-US" sz="1400" b="1" dirty="0">
                  <a:solidFill>
                    <a:schemeClr val="bg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건</a:t>
              </a:r>
            </a:p>
            <a:p>
              <a:pPr algn="ctr"/>
              <a:r>
                <a:rPr lang="en-US" altLang="ko-KR" sz="1200" dirty="0" err="1">
                  <a:solidFill>
                    <a:schemeClr val="bg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wordCount</a:t>
              </a:r>
              <a:r>
                <a:rPr lang="en-US" altLang="ko-KR" sz="1200" dirty="0">
                  <a:solidFill>
                    <a:schemeClr val="bg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= null </a:t>
              </a:r>
              <a:r>
                <a:rPr lang="ko-KR" altLang="en-US" sz="1200" dirty="0">
                  <a:solidFill>
                    <a:schemeClr val="bg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로 초기화</a:t>
              </a:r>
              <a:endParaRPr lang="en-US" altLang="ko-KR" sz="11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21" name="Shape 25">
              <a:extLst>
                <a:ext uri="{FF2B5EF4-FFF2-40B4-BE49-F238E27FC236}">
                  <a16:creationId xmlns:a16="http://schemas.microsoft.com/office/drawing/2014/main" id="{4C899057-99A3-C866-1C58-031BE93C30F2}"/>
                </a:ext>
              </a:extLst>
            </p:cNvPr>
            <p:cNvSpPr/>
            <p:nvPr/>
          </p:nvSpPr>
          <p:spPr>
            <a:xfrm>
              <a:off x="4656082" y="4820272"/>
              <a:ext cx="2844000" cy="648000"/>
            </a:xfrm>
            <a:prstGeom prst="roundRect">
              <a:avLst>
                <a:gd name="adj" fmla="val 13780"/>
              </a:avLst>
            </a:prstGeom>
            <a:solidFill>
              <a:schemeClr val="bg1">
                <a:lumMod val="50000"/>
              </a:schemeClr>
            </a:solidFill>
            <a:ln/>
          </p:spPr>
          <p:txBody>
            <a:bodyPr anchor="ctr"/>
            <a:lstStyle/>
            <a:p>
              <a:pPr algn="ctr"/>
              <a:r>
                <a:rPr lang="ko-KR" altLang="en-US" sz="1400" b="1" dirty="0">
                  <a:solidFill>
                    <a:schemeClr val="bg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성공한 파일 </a:t>
              </a:r>
              <a:r>
                <a:rPr lang="en-US" altLang="ko-KR" sz="1400" b="1" dirty="0">
                  <a:solidFill>
                    <a:schemeClr val="bg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1</a:t>
              </a:r>
              <a:r>
                <a:rPr lang="ko-KR" altLang="en-US" sz="1400" b="1" dirty="0">
                  <a:solidFill>
                    <a:schemeClr val="bg1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건 이상</a:t>
              </a:r>
            </a:p>
            <a:p>
              <a:pPr algn="ctr"/>
              <a:r>
                <a:rPr lang="en-US" altLang="ko-KR" sz="1200" dirty="0" err="1">
                  <a:solidFill>
                    <a:schemeClr val="bg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wordCount·totalNum</a:t>
              </a:r>
              <a:r>
                <a:rPr lang="en-US" altLang="ko-KR" sz="1200" dirty="0">
                  <a:solidFill>
                    <a:schemeClr val="bg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</a:t>
              </a:r>
              <a:r>
                <a:rPr lang="ko-KR" altLang="en-US" sz="1200" dirty="0">
                  <a:solidFill>
                    <a:schemeClr val="bg1"/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교체</a:t>
              </a:r>
              <a:endParaRPr lang="en-US" altLang="ko-KR" sz="11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A0F7977B-5C2A-C930-DEAA-9BB48DC32CFC}"/>
                </a:ext>
              </a:extLst>
            </p:cNvPr>
            <p:cNvCxnSpPr>
              <a:cxnSpLocks/>
            </p:cNvCxnSpPr>
            <p:nvPr/>
          </p:nvCxnSpPr>
          <p:spPr>
            <a:xfrm>
              <a:off x="2982082" y="4560995"/>
              <a:ext cx="0" cy="180000"/>
            </a:xfrm>
            <a:prstGeom prst="straightConnector1">
              <a:avLst/>
            </a:prstGeom>
            <a:ln w="13970">
              <a:solidFill>
                <a:schemeClr val="tx1">
                  <a:lumMod val="50000"/>
                  <a:lumOff val="50000"/>
                </a:schemeClr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9CCC5667-FD54-9333-925D-6658C0086E03}"/>
                </a:ext>
              </a:extLst>
            </p:cNvPr>
            <p:cNvCxnSpPr>
              <a:cxnSpLocks/>
            </p:cNvCxnSpPr>
            <p:nvPr/>
          </p:nvCxnSpPr>
          <p:spPr>
            <a:xfrm>
              <a:off x="6078082" y="4560995"/>
              <a:ext cx="0" cy="180000"/>
            </a:xfrm>
            <a:prstGeom prst="straightConnector1">
              <a:avLst/>
            </a:prstGeom>
            <a:ln w="13970">
              <a:solidFill>
                <a:schemeClr val="tx1">
                  <a:lumMod val="50000"/>
                  <a:lumOff val="50000"/>
                </a:schemeClr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736AA52-C53F-5B68-AEE4-F581A81E0574}"/>
              </a:ext>
            </a:extLst>
          </p:cNvPr>
          <p:cNvCxnSpPr>
            <a:cxnSpLocks/>
          </p:cNvCxnSpPr>
          <p:nvPr/>
        </p:nvCxnSpPr>
        <p:spPr>
          <a:xfrm>
            <a:off x="2982082" y="5547550"/>
            <a:ext cx="0" cy="180000"/>
          </a:xfrm>
          <a:prstGeom prst="straightConnector1">
            <a:avLst/>
          </a:prstGeom>
          <a:ln w="13970"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0CA313A-F7D7-D87D-BAFD-8DB759292018}"/>
              </a:ext>
            </a:extLst>
          </p:cNvPr>
          <p:cNvCxnSpPr>
            <a:cxnSpLocks/>
          </p:cNvCxnSpPr>
          <p:nvPr/>
        </p:nvCxnSpPr>
        <p:spPr>
          <a:xfrm>
            <a:off x="6078082" y="5547550"/>
            <a:ext cx="0" cy="180000"/>
          </a:xfrm>
          <a:prstGeom prst="straightConnector1">
            <a:avLst/>
          </a:prstGeom>
          <a:ln w="13970"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994CA1A-F04A-AAE2-CC78-BC74136E48CF}"/>
              </a:ext>
            </a:extLst>
          </p:cNvPr>
          <p:cNvGrpSpPr/>
          <p:nvPr/>
        </p:nvGrpSpPr>
        <p:grpSpPr>
          <a:xfrm>
            <a:off x="1074082" y="1083849"/>
            <a:ext cx="7164000" cy="2411313"/>
            <a:chOff x="1074082" y="1083849"/>
            <a:chExt cx="7164000" cy="2411313"/>
          </a:xfrm>
        </p:grpSpPr>
        <p:sp>
          <p:nvSpPr>
            <p:cNvPr id="16" name="Shape 25">
              <a:extLst>
                <a:ext uri="{FF2B5EF4-FFF2-40B4-BE49-F238E27FC236}">
                  <a16:creationId xmlns:a16="http://schemas.microsoft.com/office/drawing/2014/main" id="{D73B88E3-6D3D-90C7-0422-7D3AA4619D95}"/>
                </a:ext>
              </a:extLst>
            </p:cNvPr>
            <p:cNvSpPr/>
            <p:nvPr/>
          </p:nvSpPr>
          <p:spPr>
            <a:xfrm>
              <a:off x="1560722" y="2847162"/>
              <a:ext cx="5940000" cy="648000"/>
            </a:xfrm>
            <a:prstGeom prst="roundRect">
              <a:avLst>
                <a:gd name="adj" fmla="val 13780"/>
              </a:avLst>
            </a:prstGeom>
            <a:solidFill>
              <a:schemeClr val="bg2">
                <a:lumMod val="90000"/>
              </a:schemeClr>
            </a:solidFill>
            <a:ln/>
          </p:spPr>
          <p:txBody>
            <a:bodyPr anchor="ctr"/>
            <a:lstStyle/>
            <a:p>
              <a:pPr algn="ctr"/>
              <a:r>
                <a:rPr lang="en-US" altLang="ko-KR" sz="1400" b="1" dirty="0" err="1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extractFiles.extract</a:t>
              </a:r>
              <a:r>
                <a:rPr lang="en-US" altLang="ko-KR" sz="1400" b="1" dirty="0"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rPr>
                <a:t>()</a:t>
              </a:r>
            </a:p>
            <a:p>
              <a:pPr algn="ctr"/>
              <a:r>
                <a:rPr lang="ko-KR" altLang="en-US" sz="12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확장자별 결과를 텍스트 목록</a:t>
              </a:r>
              <a:r>
                <a:rPr lang="en-US" altLang="ko-KR" sz="12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(List&lt;String&gt;)</a:t>
              </a:r>
              <a:r>
                <a:rPr lang="ko-KR" altLang="en-US" sz="12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으로 통일</a:t>
              </a:r>
              <a:endParaRPr lang="en-US" altLang="ko-KR" sz="11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6" name="Shape 25">
              <a:extLst>
                <a:ext uri="{FF2B5EF4-FFF2-40B4-BE49-F238E27FC236}">
                  <a16:creationId xmlns:a16="http://schemas.microsoft.com/office/drawing/2014/main" id="{A68BB92D-4556-B9EC-A3B5-214600CF1A7A}"/>
                </a:ext>
              </a:extLst>
            </p:cNvPr>
            <p:cNvSpPr/>
            <p:nvPr/>
          </p:nvSpPr>
          <p:spPr>
            <a:xfrm>
              <a:off x="4746082" y="1083849"/>
              <a:ext cx="1656000" cy="540000"/>
            </a:xfrm>
            <a:prstGeom prst="roundRect">
              <a:avLst>
                <a:gd name="adj" fmla="val 13780"/>
              </a:avLst>
            </a:prstGeom>
            <a:solidFill>
              <a:schemeClr val="bg1">
                <a:lumMod val="95000"/>
              </a:schemeClr>
            </a:solidFill>
            <a:ln>
              <a:noFill/>
              <a:prstDash val="dash"/>
            </a:ln>
          </p:spPr>
          <p:txBody>
            <a:bodyPr anchor="ctr"/>
            <a:lstStyle/>
            <a:p>
              <a:pPr algn="ctr"/>
              <a:r>
                <a:rPr lang="en-US" altLang="ko-KR" sz="1400" b="1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CSV </a:t>
              </a:r>
              <a:r>
                <a:rPr lang="ko-KR" altLang="en-US" sz="1400" b="1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파일</a:t>
              </a:r>
              <a:endParaRPr lang="en-US" altLang="ko-KR" sz="14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" name="Shape 25">
              <a:extLst>
                <a:ext uri="{FF2B5EF4-FFF2-40B4-BE49-F238E27FC236}">
                  <a16:creationId xmlns:a16="http://schemas.microsoft.com/office/drawing/2014/main" id="{D60D04A5-6C6B-35C8-DF24-11A3A481F602}"/>
                </a:ext>
              </a:extLst>
            </p:cNvPr>
            <p:cNvSpPr/>
            <p:nvPr/>
          </p:nvSpPr>
          <p:spPr>
            <a:xfrm>
              <a:off x="2910082" y="1083849"/>
              <a:ext cx="1656000" cy="540000"/>
            </a:xfrm>
            <a:prstGeom prst="roundRect">
              <a:avLst>
                <a:gd name="adj" fmla="val 13780"/>
              </a:avLst>
            </a:prstGeom>
            <a:solidFill>
              <a:schemeClr val="bg1">
                <a:lumMod val="95000"/>
              </a:schemeClr>
            </a:solidFill>
            <a:ln>
              <a:noFill/>
              <a:prstDash val="dash"/>
            </a:ln>
          </p:spPr>
          <p:txBody>
            <a:bodyPr anchor="ctr"/>
            <a:lstStyle/>
            <a:p>
              <a:pPr algn="ctr"/>
              <a:r>
                <a:rPr lang="en-US" altLang="ko-KR" sz="1400" b="1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TSV </a:t>
              </a:r>
              <a:r>
                <a:rPr lang="ko-KR" altLang="en-US" sz="1400" b="1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파일</a:t>
              </a:r>
              <a:endParaRPr lang="en-US" altLang="ko-KR" sz="14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8" name="Shape 25">
              <a:extLst>
                <a:ext uri="{FF2B5EF4-FFF2-40B4-BE49-F238E27FC236}">
                  <a16:creationId xmlns:a16="http://schemas.microsoft.com/office/drawing/2014/main" id="{64DB48CB-7296-F987-D586-839C3C128BCC}"/>
                </a:ext>
              </a:extLst>
            </p:cNvPr>
            <p:cNvSpPr/>
            <p:nvPr/>
          </p:nvSpPr>
          <p:spPr>
            <a:xfrm>
              <a:off x="1074082" y="1083849"/>
              <a:ext cx="1656000" cy="540000"/>
            </a:xfrm>
            <a:prstGeom prst="roundRect">
              <a:avLst>
                <a:gd name="adj" fmla="val 13780"/>
              </a:avLst>
            </a:prstGeom>
            <a:solidFill>
              <a:schemeClr val="bg1">
                <a:lumMod val="95000"/>
              </a:schemeClr>
            </a:solidFill>
            <a:ln>
              <a:noFill/>
              <a:prstDash val="dash"/>
            </a:ln>
          </p:spPr>
          <p:txBody>
            <a:bodyPr anchor="ctr"/>
            <a:lstStyle/>
            <a:p>
              <a:pPr algn="ctr"/>
              <a:r>
                <a:rPr lang="en-US" altLang="ko-KR" sz="1400" b="1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TXT </a:t>
              </a:r>
              <a:r>
                <a:rPr lang="ko-KR" altLang="en-US" sz="1400" b="1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파일</a:t>
              </a:r>
            </a:p>
          </p:txBody>
        </p:sp>
        <p:sp>
          <p:nvSpPr>
            <p:cNvPr id="4" name="Shape 25">
              <a:extLst>
                <a:ext uri="{FF2B5EF4-FFF2-40B4-BE49-F238E27FC236}">
                  <a16:creationId xmlns:a16="http://schemas.microsoft.com/office/drawing/2014/main" id="{58BDDA85-02E5-CC1C-F2EC-82D878683146}"/>
                </a:ext>
              </a:extLst>
            </p:cNvPr>
            <p:cNvSpPr/>
            <p:nvPr/>
          </p:nvSpPr>
          <p:spPr>
            <a:xfrm>
              <a:off x="6582082" y="1083849"/>
              <a:ext cx="1656000" cy="540000"/>
            </a:xfrm>
            <a:prstGeom prst="roundRect">
              <a:avLst>
                <a:gd name="adj" fmla="val 13780"/>
              </a:avLst>
            </a:prstGeom>
            <a:solidFill>
              <a:schemeClr val="bg1">
                <a:lumMod val="95000"/>
              </a:schemeClr>
            </a:solidFill>
            <a:ln>
              <a:noFill/>
              <a:prstDash val="dash"/>
            </a:ln>
          </p:spPr>
          <p:txBody>
            <a:bodyPr anchor="ctr"/>
            <a:lstStyle/>
            <a:p>
              <a:pPr algn="ctr"/>
              <a:r>
                <a:rPr lang="en-US" altLang="ko-KR" sz="1400" b="1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HTM / HTML </a:t>
              </a:r>
              <a:r>
                <a:rPr lang="ko-KR" altLang="en-US" sz="1400" b="1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파일</a:t>
              </a:r>
              <a:endParaRPr lang="en-US" altLang="ko-KR" sz="14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2F9AA829-161B-FF6D-1DF8-877CA7216C20}"/>
                </a:ext>
              </a:extLst>
            </p:cNvPr>
            <p:cNvGrpSpPr/>
            <p:nvPr/>
          </p:nvGrpSpPr>
          <p:grpSpPr>
            <a:xfrm>
              <a:off x="1074082" y="1968607"/>
              <a:ext cx="7164000" cy="540000"/>
              <a:chOff x="2514000" y="1968607"/>
              <a:chExt cx="7164000" cy="540000"/>
            </a:xfrm>
          </p:grpSpPr>
          <p:sp>
            <p:nvSpPr>
              <p:cNvPr id="9" name="Shape 25">
                <a:extLst>
                  <a:ext uri="{FF2B5EF4-FFF2-40B4-BE49-F238E27FC236}">
                    <a16:creationId xmlns:a16="http://schemas.microsoft.com/office/drawing/2014/main" id="{E87D0D68-2643-5693-5FE4-AB36E5048F42}"/>
                  </a:ext>
                </a:extLst>
              </p:cNvPr>
              <p:cNvSpPr/>
              <p:nvPr/>
            </p:nvSpPr>
            <p:spPr>
              <a:xfrm>
                <a:off x="6186000" y="1968607"/>
                <a:ext cx="1656000" cy="540000"/>
              </a:xfrm>
              <a:prstGeom prst="roundRect">
                <a:avLst>
                  <a:gd name="adj" fmla="val 1378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  <a:prstDash val="dash"/>
              </a:ln>
            </p:spPr>
            <p:txBody>
              <a:bodyPr anchor="ctr"/>
              <a:lstStyle/>
              <a:p>
                <a:pPr algn="ctr"/>
                <a:r>
                  <a:rPr lang="en-US" altLang="ko-KR" sz="1400" b="1" dirty="0" err="1"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extractCsv</a:t>
                </a:r>
                <a:r>
                  <a:rPr lang="en-US" altLang="ko-KR" sz="1400" b="1" dirty="0"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()</a:t>
                </a:r>
                <a:endParaRPr lang="ko-KR" altLang="ko-KR" sz="1400" b="1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10" name="Shape 25">
                <a:extLst>
                  <a:ext uri="{FF2B5EF4-FFF2-40B4-BE49-F238E27FC236}">
                    <a16:creationId xmlns:a16="http://schemas.microsoft.com/office/drawing/2014/main" id="{F28B5BF3-40F4-BD9C-1747-70234221E91F}"/>
                  </a:ext>
                </a:extLst>
              </p:cNvPr>
              <p:cNvSpPr/>
              <p:nvPr/>
            </p:nvSpPr>
            <p:spPr>
              <a:xfrm>
                <a:off x="4350000" y="1968607"/>
                <a:ext cx="1656000" cy="540000"/>
              </a:xfrm>
              <a:prstGeom prst="roundRect">
                <a:avLst>
                  <a:gd name="adj" fmla="val 1378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  <a:prstDash val="dash"/>
              </a:ln>
            </p:spPr>
            <p:txBody>
              <a:bodyPr anchor="ctr"/>
              <a:lstStyle/>
              <a:p>
                <a:pPr algn="ctr"/>
                <a:r>
                  <a:rPr lang="en-US" altLang="ko-KR" sz="1400" b="1" dirty="0" err="1"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extractTsv</a:t>
                </a:r>
                <a:r>
                  <a:rPr lang="en-US" altLang="ko-KR" sz="1400" b="1" dirty="0"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()</a:t>
                </a:r>
                <a:endParaRPr lang="ko-KR" altLang="ko-KR" sz="1400" b="1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11" name="Shape 25">
                <a:extLst>
                  <a:ext uri="{FF2B5EF4-FFF2-40B4-BE49-F238E27FC236}">
                    <a16:creationId xmlns:a16="http://schemas.microsoft.com/office/drawing/2014/main" id="{EFE59C08-0E76-37FB-73C8-2496BD45D3D9}"/>
                  </a:ext>
                </a:extLst>
              </p:cNvPr>
              <p:cNvSpPr/>
              <p:nvPr/>
            </p:nvSpPr>
            <p:spPr>
              <a:xfrm>
                <a:off x="2514000" y="1968607"/>
                <a:ext cx="1656000" cy="540000"/>
              </a:xfrm>
              <a:prstGeom prst="roundRect">
                <a:avLst>
                  <a:gd name="adj" fmla="val 1378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  <a:prstDash val="dash"/>
              </a:ln>
            </p:spPr>
            <p:txBody>
              <a:bodyPr anchor="ctr"/>
              <a:lstStyle/>
              <a:p>
                <a:pPr algn="ctr"/>
                <a:r>
                  <a:rPr lang="en-US" altLang="ko-KR" sz="1400" b="1" dirty="0" err="1"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extractTxt</a:t>
                </a:r>
                <a:r>
                  <a:rPr lang="en-US" altLang="ko-KR" sz="1400" b="1" dirty="0"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()</a:t>
                </a:r>
                <a:endParaRPr lang="ko-KR" altLang="ko-KR" sz="1400" b="1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15" name="Shape 25">
                <a:extLst>
                  <a:ext uri="{FF2B5EF4-FFF2-40B4-BE49-F238E27FC236}">
                    <a16:creationId xmlns:a16="http://schemas.microsoft.com/office/drawing/2014/main" id="{9A8C5EE9-9993-B679-1955-C69F3F178335}"/>
                  </a:ext>
                </a:extLst>
              </p:cNvPr>
              <p:cNvSpPr/>
              <p:nvPr/>
            </p:nvSpPr>
            <p:spPr>
              <a:xfrm>
                <a:off x="8022000" y="1968607"/>
                <a:ext cx="1656000" cy="540000"/>
              </a:xfrm>
              <a:prstGeom prst="roundRect">
                <a:avLst>
                  <a:gd name="adj" fmla="val 1378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  <a:prstDash val="dash"/>
              </a:ln>
            </p:spPr>
            <p:txBody>
              <a:bodyPr anchor="ctr"/>
              <a:lstStyle/>
              <a:p>
                <a:pPr algn="ctr"/>
                <a:r>
                  <a:rPr lang="en-US" altLang="ko-KR" sz="1400" b="1" dirty="0" err="1"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extractHtml</a:t>
                </a:r>
                <a:r>
                  <a:rPr lang="en-US" altLang="ko-KR" sz="1400" b="1" dirty="0"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()</a:t>
                </a:r>
                <a:endParaRPr lang="ko-KR" altLang="ko-KR" sz="1400" b="1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endParaRPr>
              </a:p>
            </p:txBody>
          </p:sp>
        </p:grp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261A587F-04F1-947D-C57C-EA5B11B4E3AC}"/>
                </a:ext>
              </a:extLst>
            </p:cNvPr>
            <p:cNvCxnSpPr>
              <a:cxnSpLocks/>
            </p:cNvCxnSpPr>
            <p:nvPr/>
          </p:nvCxnSpPr>
          <p:spPr>
            <a:xfrm>
              <a:off x="5574082" y="1706228"/>
              <a:ext cx="0" cy="180000"/>
            </a:xfrm>
            <a:prstGeom prst="straightConnector1">
              <a:avLst/>
            </a:prstGeom>
            <a:ln w="13970"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0DE8F0E1-01C3-4D2F-AD2D-71151FC28F93}"/>
                </a:ext>
              </a:extLst>
            </p:cNvPr>
            <p:cNvCxnSpPr>
              <a:cxnSpLocks/>
            </p:cNvCxnSpPr>
            <p:nvPr/>
          </p:nvCxnSpPr>
          <p:spPr>
            <a:xfrm>
              <a:off x="3738082" y="1706228"/>
              <a:ext cx="0" cy="180000"/>
            </a:xfrm>
            <a:prstGeom prst="straightConnector1">
              <a:avLst/>
            </a:prstGeom>
            <a:ln w="13970"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C0E5DC0C-0C4D-1738-1D80-1BC36F153E3E}"/>
                </a:ext>
              </a:extLst>
            </p:cNvPr>
            <p:cNvCxnSpPr>
              <a:cxnSpLocks/>
            </p:cNvCxnSpPr>
            <p:nvPr/>
          </p:nvCxnSpPr>
          <p:spPr>
            <a:xfrm>
              <a:off x="1974082" y="1706228"/>
              <a:ext cx="0" cy="180000"/>
            </a:xfrm>
            <a:prstGeom prst="straightConnector1">
              <a:avLst/>
            </a:prstGeom>
            <a:ln w="13970"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5EA43D98-F3AD-421A-4A77-4E582CE90390}"/>
                </a:ext>
              </a:extLst>
            </p:cNvPr>
            <p:cNvCxnSpPr>
              <a:cxnSpLocks/>
            </p:cNvCxnSpPr>
            <p:nvPr/>
          </p:nvCxnSpPr>
          <p:spPr>
            <a:xfrm>
              <a:off x="7410082" y="1706228"/>
              <a:ext cx="0" cy="180000"/>
            </a:xfrm>
            <a:prstGeom prst="straightConnector1">
              <a:avLst/>
            </a:prstGeom>
            <a:ln w="13970"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FB7177BA-8C81-9204-AE24-502919D28BB7}"/>
                </a:ext>
              </a:extLst>
            </p:cNvPr>
            <p:cNvGrpSpPr/>
            <p:nvPr/>
          </p:nvGrpSpPr>
          <p:grpSpPr>
            <a:xfrm>
              <a:off x="1974082" y="2587884"/>
              <a:ext cx="5436000" cy="180000"/>
              <a:chOff x="3414000" y="2616067"/>
              <a:chExt cx="5436000" cy="180000"/>
            </a:xfrm>
          </p:grpSpPr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03453B1E-9168-A811-F57C-21636D299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14000" y="2616067"/>
                <a:ext cx="0" cy="180000"/>
              </a:xfrm>
              <a:prstGeom prst="straightConnector1">
                <a:avLst/>
              </a:prstGeom>
              <a:ln w="1397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1F2B98B8-A31D-BF24-ADEC-BE31351B24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78000" y="2616067"/>
                <a:ext cx="0" cy="180000"/>
              </a:xfrm>
              <a:prstGeom prst="straightConnector1">
                <a:avLst/>
              </a:prstGeom>
              <a:ln w="1397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화살표 연결선 36">
                <a:extLst>
                  <a:ext uri="{FF2B5EF4-FFF2-40B4-BE49-F238E27FC236}">
                    <a16:creationId xmlns:a16="http://schemas.microsoft.com/office/drawing/2014/main" id="{89B2666F-F4CC-6347-6E01-144630B3CD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4000" y="2616067"/>
                <a:ext cx="0" cy="180000"/>
              </a:xfrm>
              <a:prstGeom prst="straightConnector1">
                <a:avLst/>
              </a:prstGeom>
              <a:ln w="1397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F8DCB391-6889-4B8A-2B20-BC2227266F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50000" y="2616067"/>
                <a:ext cx="0" cy="180000"/>
              </a:xfrm>
              <a:prstGeom prst="straightConnector1">
                <a:avLst/>
              </a:prstGeom>
              <a:ln w="1397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오른쪽 대괄호 41">
            <a:extLst>
              <a:ext uri="{FF2B5EF4-FFF2-40B4-BE49-F238E27FC236}">
                <a16:creationId xmlns:a16="http://schemas.microsoft.com/office/drawing/2014/main" id="{C5ECE71A-1253-D95E-3890-4AB5174F546D}"/>
              </a:ext>
            </a:extLst>
          </p:cNvPr>
          <p:cNvSpPr/>
          <p:nvPr/>
        </p:nvSpPr>
        <p:spPr>
          <a:xfrm>
            <a:off x="8670082" y="1027712"/>
            <a:ext cx="180000" cy="2520000"/>
          </a:xfrm>
          <a:prstGeom prst="rightBracket">
            <a:avLst/>
          </a:prstGeom>
          <a:ln w="1397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오른쪽 대괄호 42">
            <a:extLst>
              <a:ext uri="{FF2B5EF4-FFF2-40B4-BE49-F238E27FC236}">
                <a16:creationId xmlns:a16="http://schemas.microsoft.com/office/drawing/2014/main" id="{426097D9-F3BD-8FC2-4A3E-9D76B131BFB4}"/>
              </a:ext>
            </a:extLst>
          </p:cNvPr>
          <p:cNvSpPr/>
          <p:nvPr/>
        </p:nvSpPr>
        <p:spPr>
          <a:xfrm>
            <a:off x="8701914" y="3696995"/>
            <a:ext cx="180000" cy="1908000"/>
          </a:xfrm>
          <a:prstGeom prst="rightBracket">
            <a:avLst/>
          </a:prstGeom>
          <a:ln w="1397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오른쪽 대괄호 45">
            <a:extLst>
              <a:ext uri="{FF2B5EF4-FFF2-40B4-BE49-F238E27FC236}">
                <a16:creationId xmlns:a16="http://schemas.microsoft.com/office/drawing/2014/main" id="{E451F287-291E-6B53-493B-D88E46CCA35E}"/>
              </a:ext>
            </a:extLst>
          </p:cNvPr>
          <p:cNvSpPr/>
          <p:nvPr/>
        </p:nvSpPr>
        <p:spPr>
          <a:xfrm>
            <a:off x="8701914" y="5754278"/>
            <a:ext cx="180000" cy="756000"/>
          </a:xfrm>
          <a:prstGeom prst="rightBracket">
            <a:avLst/>
          </a:prstGeom>
          <a:ln w="1397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A00311-9294-AE45-582D-C57991900B71}"/>
              </a:ext>
            </a:extLst>
          </p:cNvPr>
          <p:cNvSpPr txBox="1"/>
          <p:nvPr/>
        </p:nvSpPr>
        <p:spPr>
          <a:xfrm>
            <a:off x="9054343" y="2133824"/>
            <a:ext cx="16328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extractFiles</a:t>
            </a:r>
            <a:r>
              <a:rPr lang="en-US" altLang="ko-KR" sz="1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클래스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C544CF-62A0-5051-4605-777DF71C6A49}"/>
              </a:ext>
            </a:extLst>
          </p:cNvPr>
          <p:cNvSpPr txBox="1"/>
          <p:nvPr/>
        </p:nvSpPr>
        <p:spPr>
          <a:xfrm>
            <a:off x="9054343" y="4497107"/>
            <a:ext cx="1369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Analysis</a:t>
            </a:r>
            <a:r>
              <a:rPr lang="en-US" altLang="ko-KR" sz="1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클래스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734206-A79E-FA66-2F66-6E7B764F3561}"/>
              </a:ext>
            </a:extLst>
          </p:cNvPr>
          <p:cNvSpPr txBox="1"/>
          <p:nvPr/>
        </p:nvSpPr>
        <p:spPr>
          <a:xfrm>
            <a:off x="9054343" y="5978390"/>
            <a:ext cx="1098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Main</a:t>
            </a:r>
            <a:r>
              <a:rPr lang="en-US" altLang="ko-KR" sz="1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클래스</a:t>
            </a:r>
          </a:p>
        </p:txBody>
      </p:sp>
    </p:spTree>
    <p:extLst>
      <p:ext uri="{BB962C8B-B14F-4D97-AF65-F5344CB8AC3E}">
        <p14:creationId xmlns:p14="http://schemas.microsoft.com/office/powerpoint/2010/main" val="2584256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D17C6DE-03B0-E3DF-A3F0-74849AC9F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57543"/>
              </p:ext>
            </p:extLst>
          </p:nvPr>
        </p:nvGraphicFramePr>
        <p:xfrm>
          <a:off x="1517072" y="1574799"/>
          <a:ext cx="9157856" cy="4299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709">
                  <a:extLst>
                    <a:ext uri="{9D8B030D-6E8A-4147-A177-3AD203B41FA5}">
                      <a16:colId xmlns:a16="http://schemas.microsoft.com/office/drawing/2014/main" val="82619231"/>
                    </a:ext>
                  </a:extLst>
                </a:gridCol>
                <a:gridCol w="3865418">
                  <a:extLst>
                    <a:ext uri="{9D8B030D-6E8A-4147-A177-3AD203B41FA5}">
                      <a16:colId xmlns:a16="http://schemas.microsoft.com/office/drawing/2014/main" val="3400249466"/>
                    </a:ext>
                  </a:extLst>
                </a:gridCol>
                <a:gridCol w="2978729">
                  <a:extLst>
                    <a:ext uri="{9D8B030D-6E8A-4147-A177-3AD203B41FA5}">
                      <a16:colId xmlns:a16="http://schemas.microsoft.com/office/drawing/2014/main" val="1107256502"/>
                    </a:ext>
                  </a:extLst>
                </a:gridCol>
              </a:tblGrid>
              <a:tr h="4299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파일</a:t>
                      </a:r>
                      <a:endParaRPr lang="ko-KR" sz="1600" dirty="0">
                        <a:solidFill>
                          <a:schemeClr val="bg1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폴더 </a:t>
                      </a:r>
                      <a:r>
                        <a:rPr lang="ko-KR" sz="160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경로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정답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845213"/>
                  </a:ext>
                </a:extLst>
              </a:tr>
              <a:tr h="429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TXT 단일 파일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samples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equivalent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/basic.txt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9개 / 6종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531031"/>
                  </a:ext>
                </a:extLst>
              </a:tr>
              <a:tr h="429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TSV 단일 파일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samples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equivalent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basic.tsv</a:t>
                      </a:r>
                      <a:endParaRPr lang="ko-KR" sz="140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9개 / 6종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861670"/>
                  </a:ext>
                </a:extLst>
              </a:tr>
              <a:tr h="429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CSV 단일 파일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samples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equivalent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/basic.csv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9개 / 6종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971051"/>
                  </a:ext>
                </a:extLst>
              </a:tr>
              <a:tr h="429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HTML 단일 파일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samples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equivalent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/basic.html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9개 / 6종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541915"/>
                  </a:ext>
                </a:extLst>
              </a:tr>
              <a:tr h="429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폴더 전체(4개 파일)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samples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equivalent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36개 / 6종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478710"/>
                  </a:ext>
                </a:extLst>
              </a:tr>
              <a:tr h="429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실패 파일 모음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samples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invalid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4개 파일 전부 실패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769681"/>
                  </a:ext>
                </a:extLst>
              </a:tr>
              <a:tr h="429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빈 폴더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samples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temp</a:t>
                      </a:r>
                      <a:endParaRPr lang="ko-KR" sz="140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"지원 파일 없음" 안내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490138"/>
                  </a:ext>
                </a:extLst>
              </a:tr>
              <a:tr h="429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CSV 따옴표·줄바꿈 검증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samples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edge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/quoted-lines.csv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5개</a:t>
                      </a:r>
                      <a:r>
                        <a:rPr lang="en-US" alt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en-US" alt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3종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629811"/>
                  </a:ext>
                </a:extLst>
              </a:tr>
              <a:tr h="429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대용량 데이터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data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ko-KR" sz="1400" dirty="0" err="1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klue-ynat</a:t>
                      </a:r>
                      <a:r>
                        <a:rPr 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/news-1000.csv 등 4종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다음 페이지 참고</a:t>
                      </a:r>
                      <a:endParaRPr lang="ko-KR" sz="140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5197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7B6127D-DB0D-EEC3-3A65-0AA14BD01F1F}"/>
              </a:ext>
            </a:extLst>
          </p:cNvPr>
          <p:cNvSpPr txBox="1"/>
          <p:nvPr/>
        </p:nvSpPr>
        <p:spPr>
          <a:xfrm>
            <a:off x="355600" y="361434"/>
            <a:ext cx="1906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파일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폴더 경로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정답 표</a:t>
            </a:r>
          </a:p>
        </p:txBody>
      </p:sp>
    </p:spTree>
    <p:extLst>
      <p:ext uri="{BB962C8B-B14F-4D97-AF65-F5344CB8AC3E}">
        <p14:creationId xmlns:p14="http://schemas.microsoft.com/office/powerpoint/2010/main" val="21737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E21DD-0D8F-55F3-58E7-0E1E01410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8EBA2B4-AFDC-E745-38D1-40E3707F8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728533"/>
              </p:ext>
            </p:extLst>
          </p:nvPr>
        </p:nvGraphicFramePr>
        <p:xfrm>
          <a:off x="986010" y="1921164"/>
          <a:ext cx="10219980" cy="2636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82619231"/>
                    </a:ext>
                  </a:extLst>
                </a:gridCol>
                <a:gridCol w="2097847">
                  <a:extLst>
                    <a:ext uri="{9D8B030D-6E8A-4147-A177-3AD203B41FA5}">
                      <a16:colId xmlns:a16="http://schemas.microsoft.com/office/drawing/2014/main" val="340024946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107256502"/>
                    </a:ext>
                  </a:extLst>
                </a:gridCol>
                <a:gridCol w="1216751">
                  <a:extLst>
                    <a:ext uri="{9D8B030D-6E8A-4147-A177-3AD203B41FA5}">
                      <a16:colId xmlns:a16="http://schemas.microsoft.com/office/drawing/2014/main" val="3688975630"/>
                    </a:ext>
                  </a:extLst>
                </a:gridCol>
                <a:gridCol w="1469382">
                  <a:extLst>
                    <a:ext uri="{9D8B030D-6E8A-4147-A177-3AD203B41FA5}">
                      <a16:colId xmlns:a16="http://schemas.microsoft.com/office/drawing/2014/main" val="187861286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815359803"/>
                    </a:ext>
                  </a:extLst>
                </a:gridCol>
              </a:tblGrid>
              <a:tr h="52739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60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입력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60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데이터 건수 / 파일 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60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전체 단어 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60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종류 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60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처리 시간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600" dirty="0" err="1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완료·오류</a:t>
                      </a:r>
                      <a:endParaRPr lang="ko-KR" sz="1600" dirty="0">
                        <a:solidFill>
                          <a:schemeClr val="bg1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845213"/>
                  </a:ext>
                </a:extLst>
              </a:tr>
              <a:tr h="5273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sz="1400" dirty="0" err="1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data</a:t>
                      </a: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ko-KR" sz="1400" dirty="0" err="1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klue-ynat</a:t>
                      </a: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/news-1000.csv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1,000 / 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6,991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5,052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158.2725ms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531031"/>
                  </a:ext>
                </a:extLst>
              </a:tr>
              <a:tr h="5273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sz="1400" dirty="0" err="1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data</a:t>
                      </a: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ko-KR" sz="1400" dirty="0" err="1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klue-ynat</a:t>
                      </a: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/news-10000.csv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10,000 / 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70,374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28,871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170.3535ms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861670"/>
                  </a:ext>
                </a:extLst>
              </a:tr>
              <a:tr h="5273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sz="1400" dirty="0" err="1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data</a:t>
                      </a: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ko-KR" sz="1400" dirty="0" err="1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klue-ynat</a:t>
                      </a: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/news-full.csv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45,678 / 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321,084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78,309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419.7431ms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971051"/>
                  </a:ext>
                </a:extLst>
              </a:tr>
              <a:tr h="5273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sz="1400" dirty="0" err="1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data</a:t>
                      </a: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ko-KR" sz="1400" dirty="0" err="1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klue-ynat</a:t>
                      </a: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ko-KR" sz="1400" dirty="0" err="1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many</a:t>
                      </a:r>
                      <a:endParaRPr lang="ko-KR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45,678 / 16, 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순차 처리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321,084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78,309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388.3376ms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sz="1400" dirty="0">
                          <a:solidFill>
                            <a:schemeClr val="tx1"/>
                          </a:solidFill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54191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9A3DF19-F079-1BF1-80D9-EDB73214C129}"/>
              </a:ext>
            </a:extLst>
          </p:cNvPr>
          <p:cNvSpPr txBox="1"/>
          <p:nvPr/>
        </p:nvSpPr>
        <p:spPr>
          <a:xfrm>
            <a:off x="355600" y="361434"/>
            <a:ext cx="26420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파일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폴더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정답 표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대용량 데이터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5A6CBB-08CE-6B2E-EA26-623455D884D5}"/>
              </a:ext>
            </a:extLst>
          </p:cNvPr>
          <p:cNvSpPr txBox="1"/>
          <p:nvPr/>
        </p:nvSpPr>
        <p:spPr>
          <a:xfrm>
            <a:off x="986010" y="4670322"/>
            <a:ext cx="3415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  <a:hlinkClick r:id="rId2"/>
              </a:rPr>
              <a:t>https://github.com/sinn0o</a:t>
            </a:r>
            <a:r>
              <a:rPr lang="en-US" altLang="ko-KR" sz="12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  <a:hlinkClick r:id="rId2"/>
              </a:rPr>
              <a:t>/java-word-counter</a:t>
            </a:r>
            <a:endParaRPr lang="en-US" altLang="ko-KR" sz="12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endParaRPr lang="en-US" altLang="ko-KR" sz="120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6509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E9445-BB31-E7D9-AD72-281841525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C3AA42-4F2D-7FED-F8EF-7616EB521A52}"/>
              </a:ext>
            </a:extLst>
          </p:cNvPr>
          <p:cNvSpPr txBox="1"/>
          <p:nvPr/>
        </p:nvSpPr>
        <p:spPr>
          <a:xfrm>
            <a:off x="355600" y="361434"/>
            <a:ext cx="1981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해결한 문제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&amp;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알게 된 점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ECC9911-F03D-AC4A-CCF1-013B7F5D5CBA}"/>
              </a:ext>
            </a:extLst>
          </p:cNvPr>
          <p:cNvGrpSpPr/>
          <p:nvPr/>
        </p:nvGrpSpPr>
        <p:grpSpPr>
          <a:xfrm>
            <a:off x="785128" y="1188454"/>
            <a:ext cx="3607251" cy="338554"/>
            <a:chOff x="1079469" y="1128908"/>
            <a:chExt cx="3607251" cy="33855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A3DE8A-EFBB-705F-886D-AE3B2BF7D2ED}"/>
                </a:ext>
              </a:extLst>
            </p:cNvPr>
            <p:cNvSpPr txBox="1"/>
            <p:nvPr/>
          </p:nvSpPr>
          <p:spPr>
            <a:xfrm>
              <a:off x="1153124" y="1128908"/>
              <a:ext cx="353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err="1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jsoup</a:t>
              </a:r>
              <a:r>
                <a:rPr lang="ko-KR" altLang="en-US" sz="16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, Apache </a:t>
              </a:r>
              <a:r>
                <a:rPr lang="ko-KR" altLang="en-US" sz="1600" dirty="0" err="1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Commons</a:t>
              </a:r>
              <a:r>
                <a:rPr lang="ko-KR" altLang="en-US" sz="16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 CSV 사용법</a:t>
              </a:r>
              <a:endParaRPr lang="ko-KR" altLang="en-US" sz="16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8624CC6-728F-6B2B-9E1B-3122D579700F}"/>
                </a:ext>
              </a:extLst>
            </p:cNvPr>
            <p:cNvSpPr/>
            <p:nvPr/>
          </p:nvSpPr>
          <p:spPr>
            <a:xfrm>
              <a:off x="1079469" y="1131225"/>
              <a:ext cx="72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C923109-ADF8-7A8C-67E2-7390DA423806}"/>
              </a:ext>
            </a:extLst>
          </p:cNvPr>
          <p:cNvSpPr txBox="1"/>
          <p:nvPr/>
        </p:nvSpPr>
        <p:spPr>
          <a:xfrm>
            <a:off x="857128" y="1551316"/>
            <a:ext cx="478167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문제: </a:t>
            </a:r>
            <a:endParaRPr lang="en-US" altLang="ko-KR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어떤 기능이 제공되는지 몰라 구현 시작 자체가 어려움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endParaRPr lang="ko-KR" altLang="en-US" sz="8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해결: </a:t>
            </a:r>
            <a:endParaRPr lang="en-US" altLang="ko-KR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검색 + AI 대화를 통해 API 사용법 및 예외 처리 방식 등 파악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endParaRPr lang="ko-KR" altLang="en-US" sz="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결과: </a:t>
            </a:r>
            <a:endParaRPr lang="en-US" altLang="ko-KR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TXT/TSV/CSV/HTML 4개 형식 모두 정상적으로 텍스트    추출 성공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F10178C-475D-C058-C10F-D001315F4691}"/>
              </a:ext>
            </a:extLst>
          </p:cNvPr>
          <p:cNvGrpSpPr/>
          <p:nvPr/>
        </p:nvGrpSpPr>
        <p:grpSpPr>
          <a:xfrm>
            <a:off x="785128" y="3781960"/>
            <a:ext cx="3637723" cy="338554"/>
            <a:chOff x="1079469" y="1128908"/>
            <a:chExt cx="3606995" cy="3385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4A84E2E-E511-C6BC-94EA-752113369A55}"/>
                </a:ext>
              </a:extLst>
            </p:cNvPr>
            <p:cNvSpPr txBox="1"/>
            <p:nvPr/>
          </p:nvSpPr>
          <p:spPr>
            <a:xfrm>
              <a:off x="1153124" y="1128908"/>
              <a:ext cx="35333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여러 값을 하나의 메서드로 반환하는 방법</a:t>
              </a:r>
              <a:endParaRPr lang="ko-KR" altLang="en-US" sz="16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D09C178-98B2-9037-D8C0-1750A64F9248}"/>
                </a:ext>
              </a:extLst>
            </p:cNvPr>
            <p:cNvSpPr/>
            <p:nvPr/>
          </p:nvSpPr>
          <p:spPr>
            <a:xfrm>
              <a:off x="1079469" y="1131225"/>
              <a:ext cx="72000" cy="28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306EF69-2F13-C378-F407-BCF4A9C0916C}"/>
              </a:ext>
            </a:extLst>
          </p:cNvPr>
          <p:cNvSpPr txBox="1"/>
          <p:nvPr/>
        </p:nvSpPr>
        <p:spPr>
          <a:xfrm>
            <a:off x="857127" y="4144822"/>
            <a:ext cx="492021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문제: </a:t>
            </a:r>
            <a:endParaRPr lang="en-US" altLang="ko-KR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자바 메서드는 </a:t>
            </a:r>
            <a:r>
              <a:rPr lang="ko-KR" alt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return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하나만 가능한데, 분석 결과를 한 번에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전달받아야 함</a:t>
            </a:r>
          </a:p>
          <a:p>
            <a:endParaRPr lang="ko-KR" altLang="en-US" sz="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해결: </a:t>
            </a:r>
            <a:endParaRPr lang="en-US" altLang="ko-KR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</a:t>
            </a:r>
            <a:r>
              <a:rPr lang="ko-KR" alt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record를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활용해 </a:t>
            </a:r>
            <a:r>
              <a:rPr lang="ko-KR" alt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AnalysisSummary로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값을 묶어서 반환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endParaRPr lang="ko-KR" altLang="en-US" sz="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결과: </a:t>
            </a:r>
            <a:endParaRPr lang="en-US" altLang="ko-KR" sz="14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‘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5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최근 분석 요약 보기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에서 저장된 </a:t>
            </a:r>
            <a:r>
              <a:rPr lang="ko-KR" alt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분석값을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정상적으로 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 </a:t>
            </a:r>
            <a:r>
              <a:rPr lang="ko-KR" alt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재조회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가능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22AE792-9386-6420-4C74-5137853A36F0}"/>
              </a:ext>
            </a:extLst>
          </p:cNvPr>
          <p:cNvGrpSpPr/>
          <p:nvPr/>
        </p:nvGrpSpPr>
        <p:grpSpPr>
          <a:xfrm>
            <a:off x="6553200" y="3781960"/>
            <a:ext cx="4853672" cy="2271077"/>
            <a:chOff x="6553202" y="1188454"/>
            <a:chExt cx="4853672" cy="2271077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236E1E06-7992-A71B-2DA7-2548C5222709}"/>
                </a:ext>
              </a:extLst>
            </p:cNvPr>
            <p:cNvGrpSpPr/>
            <p:nvPr/>
          </p:nvGrpSpPr>
          <p:grpSpPr>
            <a:xfrm>
              <a:off x="6553202" y="1188454"/>
              <a:ext cx="4193694" cy="338554"/>
              <a:chOff x="1079469" y="1128908"/>
              <a:chExt cx="4193694" cy="338554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3F05FF-195A-272C-734B-610FBA280502}"/>
                  </a:ext>
                </a:extLst>
              </p:cNvPr>
              <p:cNvSpPr txBox="1"/>
              <p:nvPr/>
            </p:nvSpPr>
            <p:spPr>
              <a:xfrm>
                <a:off x="1153124" y="1128908"/>
                <a:ext cx="41200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600" dirty="0"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조회용 </a:t>
                </a:r>
                <a:r>
                  <a:rPr lang="ko-KR" altLang="en-US" sz="1600" dirty="0" err="1"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Map을</a:t>
                </a:r>
                <a:r>
                  <a:rPr lang="ko-KR" altLang="en-US" sz="1600" dirty="0"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 외부에서 수정 가능 </a:t>
                </a:r>
                <a:r>
                  <a:rPr lang="en-US" altLang="ko-KR" sz="1600" dirty="0"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(</a:t>
                </a:r>
                <a:r>
                  <a:rPr lang="ko-KR" altLang="en-US" sz="1600" dirty="0"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캡슐화 문제</a:t>
                </a:r>
                <a:r>
                  <a:rPr lang="en-US" altLang="ko-KR" sz="1600" dirty="0"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)</a:t>
                </a:r>
                <a:endParaRPr lang="ko-KR" altLang="en-US" sz="1600" dirty="0">
                  <a:solidFill>
                    <a:schemeClr val="tx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AD5F5B48-2F8A-5016-9219-D6D493411A70}"/>
                  </a:ext>
                </a:extLst>
              </p:cNvPr>
              <p:cNvSpPr/>
              <p:nvPr/>
            </p:nvSpPr>
            <p:spPr>
              <a:xfrm>
                <a:off x="1079469" y="1131225"/>
                <a:ext cx="72000" cy="288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B7A3485-6780-F638-51F2-1913158ED478}"/>
                </a:ext>
              </a:extLst>
            </p:cNvPr>
            <p:cNvSpPr txBox="1"/>
            <p:nvPr/>
          </p:nvSpPr>
          <p:spPr>
            <a:xfrm>
              <a:off x="6625202" y="1551316"/>
              <a:ext cx="4781672" cy="1908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문제: </a:t>
              </a:r>
              <a:endPara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r>
                <a: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- 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호출부에서 .</a:t>
              </a:r>
              <a:r>
                <a:rPr lang="ko-KR" altLang="en-US" sz="1400" dirty="0" err="1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clear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() 등을 호출하면 내부 상태가 오염됨</a:t>
              </a:r>
              <a:endPara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endParaRPr lang="ko-KR" altLang="en-US" sz="8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r>
                <a:rPr lang="ko-KR" altLang="en-US" sz="1400" b="1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해결: </a:t>
              </a:r>
              <a:endPara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r>
                <a: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- 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필드를 </a:t>
              </a:r>
              <a:r>
                <a:rPr lang="ko-KR" altLang="en-US" sz="1400" dirty="0" err="1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private으로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제한하고, </a:t>
              </a:r>
              <a:r>
                <a:rPr lang="ko-KR" altLang="en-US" sz="1400" dirty="0" err="1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getter는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내부 </a:t>
              </a:r>
              <a:r>
                <a:rPr lang="ko-KR" altLang="en-US" sz="1400" dirty="0" err="1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Map을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복사한</a:t>
              </a:r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  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새 객체를 반환하도록 수정</a:t>
              </a:r>
              <a:endPara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endPara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r>
                <a:rPr lang="ko-KR" altLang="en-US" sz="1400" b="1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결과: </a:t>
              </a:r>
              <a:endPara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r>
                <a: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- 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내부 분석 결과에 영향 없음을 확인</a:t>
              </a:r>
              <a:endPara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5BE79A9-E0DD-579B-9CCB-C92529CE31A5}"/>
              </a:ext>
            </a:extLst>
          </p:cNvPr>
          <p:cNvGrpSpPr/>
          <p:nvPr/>
        </p:nvGrpSpPr>
        <p:grpSpPr>
          <a:xfrm>
            <a:off x="6553201" y="1188454"/>
            <a:ext cx="4992215" cy="2209521"/>
            <a:chOff x="6553201" y="3781960"/>
            <a:chExt cx="4992215" cy="2209521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1102C3C-0A04-6ABB-35F5-CF2DE446F56D}"/>
                </a:ext>
              </a:extLst>
            </p:cNvPr>
            <p:cNvGrpSpPr/>
            <p:nvPr/>
          </p:nvGrpSpPr>
          <p:grpSpPr>
            <a:xfrm>
              <a:off x="6553201" y="3781960"/>
              <a:ext cx="2853643" cy="338554"/>
              <a:chOff x="1079469" y="1128908"/>
              <a:chExt cx="2829538" cy="338554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BED76B9-404E-30FC-AA35-D9F90A31C43C}"/>
                  </a:ext>
                </a:extLst>
              </p:cNvPr>
              <p:cNvSpPr txBox="1"/>
              <p:nvPr/>
            </p:nvSpPr>
            <p:spPr>
              <a:xfrm>
                <a:off x="1153124" y="1128908"/>
                <a:ext cx="27558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600" dirty="0"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rPr>
                  <a:t>오류 메시지에서 문제 위치 특정</a:t>
                </a: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B9C30D12-CD02-BFC7-B27E-3DEC63008D92}"/>
                  </a:ext>
                </a:extLst>
              </p:cNvPr>
              <p:cNvSpPr/>
              <p:nvPr/>
            </p:nvSpPr>
            <p:spPr>
              <a:xfrm>
                <a:off x="1079469" y="1131225"/>
                <a:ext cx="72000" cy="288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43EDEFB-E3F6-A5DA-F3CB-D810224D526F}"/>
                </a:ext>
              </a:extLst>
            </p:cNvPr>
            <p:cNvSpPr txBox="1"/>
            <p:nvPr/>
          </p:nvSpPr>
          <p:spPr>
            <a:xfrm>
              <a:off x="6625201" y="4144822"/>
              <a:ext cx="4920215" cy="1846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문제: </a:t>
              </a:r>
              <a:endPara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r>
                <a: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- 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데이터에서 어느 레코드가 문제인지 알 수 없었음</a:t>
              </a:r>
              <a:endPara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endPara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r>
                <a:rPr lang="ko-KR" altLang="en-US" sz="1400" b="1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해결: </a:t>
              </a:r>
              <a:endPara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r>
                <a: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- 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TSV</a:t>
              </a:r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: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직접 카운터로 레코드 번호 계산</a:t>
              </a:r>
              <a:endPara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</a:t>
              </a:r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- 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CSV</a:t>
              </a:r>
              <a:r>
                <a:rPr lang="en-US" altLang="ko-KR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: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</a:t>
              </a:r>
              <a:r>
                <a:rPr lang="ko-KR" altLang="en-US" sz="1400" dirty="0" err="1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CSVRecord.getRecordNumber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() 활용</a:t>
              </a:r>
              <a:endPara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endPara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r>
                <a:rPr lang="ko-KR" altLang="en-US" sz="1400" b="1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결과: </a:t>
              </a:r>
              <a:endParaRPr lang="en-US" altLang="ko-KR" sz="1400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  <a:p>
              <a:r>
                <a:rPr lang="ko-KR" alt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 </a:t>
              </a:r>
              <a:r>
                <a:rPr lang="en-US" altLang="ko-KR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- </a:t>
              </a:r>
              <a:r>
                <a:rPr lang="ko-KR" altLang="en-US" sz="1400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  <a:cs typeface="KoPubWorld돋움체 Light" panose="00000300000000000000" pitchFamily="2" charset="-127"/>
                </a:rPr>
                <a:t>오류 메시지만으로 문제 레코드 위치를 특정 가능</a:t>
              </a:r>
              <a:endPara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endParaRPr>
            </a:p>
          </p:txBody>
        </p:sp>
      </p:grp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DBA174D-33F7-C21C-0FF6-D0A87CCA94EB}"/>
              </a:ext>
            </a:extLst>
          </p:cNvPr>
          <p:cNvCxnSpPr>
            <a:cxnSpLocks/>
          </p:cNvCxnSpPr>
          <p:nvPr/>
        </p:nvCxnSpPr>
        <p:spPr>
          <a:xfrm>
            <a:off x="6096000" y="1122218"/>
            <a:ext cx="0" cy="48768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939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98AB7-E3C1-12B5-EB82-80623CC47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490BCD-FA10-AEBC-2122-ABFF8C14F45D}"/>
              </a:ext>
            </a:extLst>
          </p:cNvPr>
          <p:cNvSpPr txBox="1"/>
          <p:nvPr/>
        </p:nvSpPr>
        <p:spPr>
          <a:xfrm>
            <a:off x="355600" y="361434"/>
            <a:ext cx="2452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남은 문제 </a:t>
            </a:r>
            <a:r>
              <a:rPr lang="en-US" altLang="ko-KR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&amp;</a:t>
            </a:r>
            <a:r>
              <a:rPr lang="ko-KR" altLang="en-US" sz="14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개선하고 싶은 부분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B6EA085-62CC-AC29-E9A9-2A5B82CF8B27}"/>
              </a:ext>
            </a:extLst>
          </p:cNvPr>
          <p:cNvGrpSpPr/>
          <p:nvPr/>
        </p:nvGrpSpPr>
        <p:grpSpPr>
          <a:xfrm>
            <a:off x="785128" y="2072541"/>
            <a:ext cx="2370759" cy="338554"/>
            <a:chOff x="1079469" y="1128908"/>
            <a:chExt cx="2370759" cy="33855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776CF9-468D-BDDF-686E-56E46BFA7047}"/>
                </a:ext>
              </a:extLst>
            </p:cNvPr>
            <p:cNvSpPr txBox="1"/>
            <p:nvPr/>
          </p:nvSpPr>
          <p:spPr>
            <a:xfrm>
              <a:off x="1153124" y="1128908"/>
              <a:ext cx="22971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err="1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checkFiles</a:t>
              </a:r>
              <a:r>
                <a:rPr lang="en-US" altLang="ko-KR" sz="16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()</a:t>
              </a:r>
              <a:r>
                <a:rPr lang="ko-KR" altLang="en-US" sz="16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의 책임 과다</a:t>
              </a:r>
              <a:endParaRPr lang="ko-KR" altLang="en-US" sz="16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BE77743-A75B-2FA9-4822-ADD34D7864C1}"/>
                </a:ext>
              </a:extLst>
            </p:cNvPr>
            <p:cNvSpPr/>
            <p:nvPr/>
          </p:nvSpPr>
          <p:spPr>
            <a:xfrm>
              <a:off x="1079469" y="1131225"/>
              <a:ext cx="72000" cy="28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86D2EC9-5339-F91F-1685-36175EDD7EBE}"/>
              </a:ext>
            </a:extLst>
          </p:cNvPr>
          <p:cNvGrpSpPr/>
          <p:nvPr/>
        </p:nvGrpSpPr>
        <p:grpSpPr>
          <a:xfrm>
            <a:off x="785128" y="3984991"/>
            <a:ext cx="2231618" cy="338554"/>
            <a:chOff x="1079469" y="1128908"/>
            <a:chExt cx="2231618" cy="33855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F3D7735-E750-F21F-3270-E11508C63961}"/>
                </a:ext>
              </a:extLst>
            </p:cNvPr>
            <p:cNvSpPr txBox="1"/>
            <p:nvPr/>
          </p:nvSpPr>
          <p:spPr>
            <a:xfrm>
              <a:off x="1153124" y="1128908"/>
              <a:ext cx="21579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solidFill>
                    <a:schemeClr val="tx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확장자 판단 기준의 분산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B63F486-F3BB-25A8-508F-29DD77BD0279}"/>
                </a:ext>
              </a:extLst>
            </p:cNvPr>
            <p:cNvSpPr/>
            <p:nvPr/>
          </p:nvSpPr>
          <p:spPr>
            <a:xfrm>
              <a:off x="1079469" y="1131225"/>
              <a:ext cx="72000" cy="28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B9E4202-599D-73C1-05E6-1ABD1AF7B832}"/>
              </a:ext>
            </a:extLst>
          </p:cNvPr>
          <p:cNvGrpSpPr/>
          <p:nvPr/>
        </p:nvGrpSpPr>
        <p:grpSpPr>
          <a:xfrm>
            <a:off x="6691746" y="2072541"/>
            <a:ext cx="617394" cy="338554"/>
            <a:chOff x="1079469" y="1128908"/>
            <a:chExt cx="617394" cy="33855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6482A4C-01A4-29C3-0923-27A9473F658B}"/>
                </a:ext>
              </a:extLst>
            </p:cNvPr>
            <p:cNvSpPr txBox="1"/>
            <p:nvPr/>
          </p:nvSpPr>
          <p:spPr>
            <a:xfrm>
              <a:off x="1153124" y="1128908"/>
              <a:ext cx="543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기타</a:t>
              </a:r>
              <a:endParaRPr lang="ko-KR" altLang="en-US" sz="1600" dirty="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6F0DC74-0682-88F6-62E7-E14E82085916}"/>
                </a:ext>
              </a:extLst>
            </p:cNvPr>
            <p:cNvSpPr/>
            <p:nvPr/>
          </p:nvSpPr>
          <p:spPr>
            <a:xfrm>
              <a:off x="1079469" y="1131225"/>
              <a:ext cx="72000" cy="288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558101A-575E-A1B9-0F12-9B50D1FD822C}"/>
              </a:ext>
            </a:extLst>
          </p:cNvPr>
          <p:cNvSpPr txBox="1"/>
          <p:nvPr/>
        </p:nvSpPr>
        <p:spPr>
          <a:xfrm>
            <a:off x="857128" y="2414383"/>
            <a:ext cx="46431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한 </a:t>
            </a:r>
            <a:r>
              <a:rPr lang="ko-KR" altLang="en-US" sz="1400" b="1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매서드에</a:t>
            </a:r>
            <a:r>
              <a:rPr lang="ko-KR" altLang="en-US" sz="14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입력 </a:t>
            </a:r>
            <a:r>
              <a:rPr lang="en-US" altLang="ko-KR" sz="14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+ </a:t>
            </a:r>
            <a:r>
              <a:rPr lang="ko-KR" altLang="ko-KR" sz="14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경로 검증 + 파일 목록 수집 + 분석 호출</a:t>
            </a:r>
            <a:r>
              <a:rPr lang="ko-KR" altLang="en-US" sz="14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 몰려 있음</a:t>
            </a:r>
            <a:endParaRPr lang="en-US" altLang="ko-KR" sz="1400" b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Analysis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클래스에서 여러 변수가 곳곳에 쓰이기 때문에 </a:t>
            </a:r>
            <a:r>
              <a:rPr lang="ko-KR" alt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매서드로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분할하는 것이 어려움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변수를 어떻게 정리하고 전달하는 게 좋을지 고민할 필요를 느낌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F9A7F0-B8D3-FCC7-C01A-142204C0B27D}"/>
              </a:ext>
            </a:extLst>
          </p:cNvPr>
          <p:cNvSpPr txBox="1"/>
          <p:nvPr/>
        </p:nvSpPr>
        <p:spPr>
          <a:xfrm>
            <a:off x="857128" y="4323545"/>
            <a:ext cx="48509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지원 확장자 목록이 </a:t>
            </a:r>
            <a:r>
              <a:rPr lang="ko-KR" altLang="ko-KR" sz="1400" b="1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Analysis</a:t>
            </a:r>
            <a:r>
              <a:rPr lang="ko-KR" altLang="ko-KR" sz="14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ko-KR" sz="1400" b="1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Set.of</a:t>
            </a:r>
            <a:r>
              <a:rPr lang="ko-KR" altLang="ko-KR" sz="14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())와 </a:t>
            </a:r>
            <a:r>
              <a:rPr lang="ko-KR" altLang="ko-KR" sz="1400" b="1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extractFiles</a:t>
            </a:r>
            <a:r>
              <a:rPr lang="ko-KR" altLang="ko-KR" sz="14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() 양쪽에 따로 존재</a:t>
            </a:r>
            <a:endParaRPr lang="en-US" altLang="ko-KR" sz="1400" b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새 형식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(e.g. JSON) </a:t>
            </a:r>
            <a:r>
              <a:rPr lang="ko-KR" alt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추가시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두 파일 모두 수정이 필요함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확장자의 판단 기준을 내리는 곳을 하나로 통일할 필요를 느낌</a:t>
            </a:r>
            <a:endParaRPr lang="ko-KR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4B9D90F-AAFB-C7B6-F092-1ADBC536A26E}"/>
              </a:ext>
            </a:extLst>
          </p:cNvPr>
          <p:cNvCxnSpPr>
            <a:cxnSpLocks/>
          </p:cNvCxnSpPr>
          <p:nvPr/>
        </p:nvCxnSpPr>
        <p:spPr>
          <a:xfrm>
            <a:off x="6096000" y="1122218"/>
            <a:ext cx="0" cy="48768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CC40476-E088-4F84-416F-B996FECFBADF}"/>
              </a:ext>
            </a:extLst>
          </p:cNvPr>
          <p:cNvSpPr txBox="1"/>
          <p:nvPr/>
        </p:nvSpPr>
        <p:spPr>
          <a:xfrm>
            <a:off x="6786908" y="2411095"/>
            <a:ext cx="4724370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1400" b="1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getWordCount</a:t>
            </a:r>
            <a:r>
              <a:rPr lang="ko-KR" altLang="ko-KR" sz="14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()</a:t>
            </a:r>
            <a:r>
              <a:rPr lang="ko-KR" altLang="ko-KR" sz="1400" b="1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</a:t>
            </a:r>
            <a:r>
              <a:rPr lang="en-US" altLang="ko-KR" sz="14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b="1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캡슐화하는</a:t>
            </a:r>
            <a:r>
              <a:rPr lang="ko-KR" altLang="en-US" sz="14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과정에서 불필요한 복사 발생</a:t>
            </a:r>
            <a:endParaRPr lang="en-US" altLang="ko-KR" sz="1400" b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- Main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에서 </a:t>
            </a:r>
            <a:r>
              <a:rPr lang="ko-KR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체크용/사용용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으로 중복 호출하기 때문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- return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방식을 변경하여 해결하려 했으나 코드 수정에 시간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 많이 소요되고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기간 내에 결과물이 나오지 않을 것으로 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판단함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- temp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만들어 값을 복사하고 출력하여 외부의 수정을 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차단하게 수정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endParaRPr lang="en-US" altLang="ko-KR" sz="1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endParaRPr lang="en-US" altLang="ko-KR" sz="1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4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심화 요구사항 </a:t>
            </a:r>
            <a:r>
              <a:rPr lang="ko-KR" altLang="en-US" sz="1400" b="1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미구현</a:t>
            </a:r>
            <a:endParaRPr lang="en-US" altLang="ko-KR" sz="1400" b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개인 일정과 여러 사정이 겹쳐 심화 요구사항 구현에 도전할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여유가 나지 못했음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- </a:t>
            </a:r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객체지향 구조 개선 혹은 분석 기능 확장에 도전해보고 싶음</a:t>
            </a:r>
            <a:endParaRPr lang="en-US" altLang="ko-KR" sz="1400" dirty="0">
              <a:solidFill>
                <a:schemeClr val="tx1">
                  <a:lumMod val="95000"/>
                  <a:lumOff val="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D6F163-C249-2701-B923-42F93E7F4AB6}"/>
              </a:ext>
            </a:extLst>
          </p:cNvPr>
          <p:cNvSpPr txBox="1"/>
          <p:nvPr/>
        </p:nvSpPr>
        <p:spPr>
          <a:xfrm>
            <a:off x="494173" y="1424530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&lt;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피드백 관련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&gt;</a:t>
            </a:r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E5A87B-F94E-0614-13CC-29C491D7DCC6}"/>
              </a:ext>
            </a:extLst>
          </p:cNvPr>
          <p:cNvSpPr txBox="1"/>
          <p:nvPr/>
        </p:nvSpPr>
        <p:spPr>
          <a:xfrm>
            <a:off x="6400791" y="1424530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&lt;</a:t>
            </a:r>
            <a:r>
              <a:rPr lang="ko-KR" altLang="en-US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개선할 부분</a:t>
            </a:r>
            <a:r>
              <a:rPr lang="en-US" altLang="ko-KR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&gt;</a:t>
            </a:r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0685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1576F5-5D93-C82B-545D-4760A063F065}"/>
              </a:ext>
            </a:extLst>
          </p:cNvPr>
          <p:cNvSpPr txBox="1"/>
          <p:nvPr/>
        </p:nvSpPr>
        <p:spPr>
          <a:xfrm>
            <a:off x="3991898" y="2228671"/>
            <a:ext cx="42082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778170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793</Words>
  <Application>Microsoft Office PowerPoint</Application>
  <PresentationFormat>와이드스크린</PresentationFormat>
  <Paragraphs>175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KoPubWorld돋움체 Bold</vt:lpstr>
      <vt:lpstr>KoPubWorld돋움체 Light</vt:lpstr>
      <vt:lpstr>KoPubWorld돋움체 Medium</vt:lpstr>
      <vt:lpstr>맑은 고딕</vt:lpstr>
      <vt:lpstr>배달의민족 도현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신영 노</dc:creator>
  <cp:lastModifiedBy>신영 노</cp:lastModifiedBy>
  <cp:revision>1</cp:revision>
  <dcterms:created xsi:type="dcterms:W3CDTF">2026-09-30T15:04:17Z</dcterms:created>
  <dcterms:modified xsi:type="dcterms:W3CDTF">2026-10-01T07:42:31Z</dcterms:modified>
</cp:coreProperties>
</file>